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2893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749040" cy="68580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3749040" y="0"/>
            <a:ext cx="164592" cy="6858000"/>
          </a:xfrm>
          <a:prstGeom prst="rect">
            <a:avLst/>
          </a:prstGeom>
          <a:solidFill>
            <a:srgbClr val="2CB1BC"/>
          </a:solidFill>
          <a:ln w="12700">
            <a:solidFill>
              <a:srgbClr val="2CB1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4297680" y="12344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A43"/>
                </a:solidFill>
              </a:rPr>
              <a:t>Campus Cuisine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297680" y="1874520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F5AA6"/>
                </a:solidFill>
              </a:rPr>
              <a:t>Development Presentation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4297680" y="3474720"/>
            <a:ext cx="30632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4462272" y="3602736"/>
            <a:ext cx="2734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5AA6"/>
                </a:solidFill>
              </a:rPr>
              <a:t>HOMEPAGE SCREENSHOT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635240" y="3474720"/>
            <a:ext cx="30632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7799832" y="3602736"/>
            <a:ext cx="2734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5AA6"/>
                </a:solidFill>
              </a:rPr>
              <a:t>REPO LANDING SCREEN SCREENSHOT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58620" y="5303520"/>
            <a:ext cx="344299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Prepared by: SSID: 2308353</a:t>
            </a:r>
          </a:p>
          <a:p>
            <a:r>
              <a:rPr lang="en-US" sz="1500" dirty="0">
                <a:solidFill>
                  <a:srgbClr val="FFFFFF"/>
                </a:solidFill>
              </a:rPr>
              <a:t>	    SSID: </a:t>
            </a:r>
            <a:r>
              <a:rPr lang="en-GB" sz="1600" dirty="0">
                <a:solidFill>
                  <a:schemeClr val="bg1"/>
                </a:solidFill>
              </a:rPr>
              <a:t>0804824</a:t>
            </a:r>
            <a:endParaRPr lang="en-US" sz="15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Module: Full stack software development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5AA6"/>
          </a:solidFill>
          <a:ln w="12700">
            <a:solidFill>
              <a:srgbClr val="1F5A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Git Commit and Folder structure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567160" y="6601968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54864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dirty="0"/>
              <a:t>Git commit description and folder description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629400" y="2651760"/>
            <a:ext cx="47548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9" name="Text 7"/>
          <p:cNvSpPr/>
          <p:nvPr/>
        </p:nvSpPr>
        <p:spPr>
          <a:xfrm>
            <a:off x="6793992" y="2779776"/>
            <a:ext cx="4425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5AA6"/>
                </a:solidFill>
              </a:rPr>
              <a:t>COMMIT HISTORY SCREENSHOT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81743" y="2651760"/>
            <a:ext cx="47548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12" name="Text 10"/>
          <p:cNvSpPr/>
          <p:nvPr/>
        </p:nvSpPr>
        <p:spPr>
          <a:xfrm>
            <a:off x="1046335" y="2779776"/>
            <a:ext cx="4425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5AA6"/>
                </a:solidFill>
              </a:rPr>
              <a:t>FOLDER STRUCTURE SCREENSHOT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2CB1BC"/>
          </a:solidFill>
          <a:ln w="12700">
            <a:solidFill>
              <a:srgbClr val="2CB1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567160" y="6601968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1737360"/>
            <a:ext cx="50292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buSzPct val="100000"/>
            </a:pPr>
            <a:r>
              <a:rPr lang="en-US" sz="1700" dirty="0">
                <a:solidFill>
                  <a:srgbClr val="243B53"/>
                </a:solidFill>
              </a:rPr>
              <a:t>
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126480" y="137160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6291072" y="1499616"/>
            <a:ext cx="5020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5AA6"/>
                </a:solidFill>
              </a:rPr>
              <a:t>APP OVERVIEW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27648" y="1783080"/>
            <a:ext cx="4946904" cy="1353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dirty="0"/>
              <a:t>HOMEPAGE SCREENSHOT</a:t>
            </a:r>
          </a:p>
        </p:txBody>
      </p:sp>
      <p:sp>
        <p:nvSpPr>
          <p:cNvPr id="13" name="Shape 11"/>
          <p:cNvSpPr/>
          <p:nvPr/>
        </p:nvSpPr>
        <p:spPr>
          <a:xfrm>
            <a:off x="6126480" y="361188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6291072" y="3739896"/>
            <a:ext cx="2231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5AA6"/>
                </a:solidFill>
              </a:rPr>
              <a:t>UI FEATURES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27648" y="4023360"/>
            <a:ext cx="2157984" cy="1261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i="1" dirty="0"/>
              <a:t>MENU CARD EXAMPLE SCREENSHOT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915400" y="361188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17" name="Text 15"/>
          <p:cNvSpPr/>
          <p:nvPr/>
        </p:nvSpPr>
        <p:spPr>
          <a:xfrm>
            <a:off x="9079992" y="3739896"/>
            <a:ext cx="2231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5AA6"/>
                </a:solidFill>
              </a:rPr>
              <a:t>MAIN FEATURES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16568" y="4023360"/>
            <a:ext cx="2157984" cy="1261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i="1" dirty="0"/>
              <a:t>ORDER SUMMARY SCREENSHOT</a:t>
            </a:r>
            <a:endParaRPr lang="en-US" sz="11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F0EF24B-56B6-D7D8-92F7-B0209C11F3FF}"/>
              </a:ext>
            </a:extLst>
          </p:cNvPr>
          <p:cNvSpPr txBox="1"/>
          <p:nvPr/>
        </p:nvSpPr>
        <p:spPr>
          <a:xfrm>
            <a:off x="548640" y="1222310"/>
            <a:ext cx="5029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APP overview description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Icons and labels (fonts etc)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Main features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GitHub repository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567160" y="6601968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508760"/>
            <a:ext cx="53035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243B53"/>
                </a:solidFill>
              </a:rPr>
              <a:t>Repository name: </a:t>
            </a:r>
            <a:endParaRPr lang="en-US" sz="1650" dirty="0"/>
          </a:p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243B53"/>
                </a:solidFill>
              </a:rPr>
              <a:t>Main branch used: </a:t>
            </a:r>
          </a:p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243B53"/>
                </a:solidFill>
              </a:rPr>
              <a:t>Development period: </a:t>
            </a:r>
          </a:p>
          <a:p>
            <a:pPr marL="203200" indent="-203200">
              <a:buSzPct val="100000"/>
              <a:buChar char="•"/>
            </a:pPr>
            <a:endParaRPr lang="en-US" sz="1650" dirty="0">
              <a:solidFill>
                <a:srgbClr val="243B53"/>
              </a:solidFill>
            </a:endParaRPr>
          </a:p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243B53"/>
                </a:solidFill>
              </a:rPr>
              <a:t>Contributions and commits over the month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6400800" y="1463040"/>
            <a:ext cx="49377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027AF41-677C-3838-72FF-90FB314790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015" y="1738895"/>
            <a:ext cx="4773329" cy="402943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99473"/>
          </a:solidFill>
          <a:ln w="12700">
            <a:solidFill>
              <a:srgbClr val="19947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Initial planning and technical setup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567160" y="6601968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1719072"/>
            <a:ext cx="53035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243B53"/>
                </a:solidFill>
              </a:rPr>
              <a:t>Initial project idea.</a:t>
            </a:r>
          </a:p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243B53"/>
                </a:solidFill>
              </a:rPr>
              <a:t>Provisional file structure.</a:t>
            </a:r>
            <a:endParaRPr lang="en-US" sz="1650" dirty="0"/>
          </a:p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243B53"/>
                </a:solidFill>
              </a:rPr>
              <a:t>Chosen technologies: 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7589520" y="1554480"/>
            <a:ext cx="22860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7754112" y="1682496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5AA6"/>
                </a:solidFill>
              </a:rPr>
              <a:t>TECH STACK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46520" y="3657600"/>
            <a:ext cx="4800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6611112" y="3728376"/>
            <a:ext cx="4471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5AA6"/>
                </a:solidFill>
              </a:rPr>
              <a:t>INITIAL FILE STRUCTURE</a:t>
            </a:r>
            <a:endParaRPr lang="en-US" sz="13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68DF1D0-CC12-A306-6FC6-75D8DACA44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3651" y="3947832"/>
            <a:ext cx="4366337" cy="14904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5AA6"/>
          </a:solidFill>
          <a:ln w="12700">
            <a:solidFill>
              <a:srgbClr val="1F5A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Requirements and project goals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567160" y="6601968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417320"/>
            <a:ext cx="507492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6355080" y="1417320"/>
            <a:ext cx="507492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960120" y="16459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5AA6"/>
                </a:solidFill>
              </a:rPr>
              <a:t>Functional requirements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583680" y="16459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5AA6"/>
                </a:solidFill>
              </a:rPr>
              <a:t>Non-functional requirements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60120" y="2029968"/>
            <a:ext cx="44805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243B53"/>
                </a:solidFill>
              </a:rPr>
              <a:t>Display food items or menu categories</a:t>
            </a:r>
            <a:endParaRPr lang="en-US" sz="1550" dirty="0"/>
          </a:p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243B53"/>
                </a:solidFill>
              </a:rPr>
              <a:t>Add and remove items from cart</a:t>
            </a:r>
            <a:endParaRPr lang="en-US" sz="1550" dirty="0"/>
          </a:p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243B53"/>
                </a:solidFill>
              </a:rPr>
              <a:t>Complete checkout</a:t>
            </a:r>
            <a:endParaRPr lang="en-US" sz="1550" dirty="0"/>
          </a:p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243B53"/>
                </a:solidFill>
              </a:rPr>
              <a:t>Store order details in the database</a:t>
            </a:r>
            <a:endParaRPr lang="en-US" sz="1550" dirty="0"/>
          </a:p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243B53"/>
                </a:solidFill>
              </a:rPr>
              <a:t>Generate receipt or confirmation output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583680" y="2029968"/>
            <a:ext cx="44805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243B53"/>
                </a:solidFill>
              </a:rPr>
              <a:t>Usable and easy to navigate</a:t>
            </a:r>
            <a:endParaRPr lang="en-US" sz="1550" dirty="0"/>
          </a:p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243B53"/>
                </a:solidFill>
              </a:rPr>
              <a:t>Reliable when handling order data</a:t>
            </a:r>
            <a:endParaRPr lang="en-US" sz="1550" dirty="0"/>
          </a:p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243B53"/>
                </a:solidFill>
              </a:rPr>
              <a:t>Maintainable code structure</a:t>
            </a:r>
            <a:endParaRPr lang="en-US" sz="1550" dirty="0"/>
          </a:p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243B53"/>
                </a:solidFill>
              </a:rPr>
              <a:t>Fast enough for normal campus usage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2CB1BC"/>
          </a:solidFill>
          <a:ln w="12700">
            <a:solidFill>
              <a:srgbClr val="2CB1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Development timeline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567160" y="6601968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051560" y="3291840"/>
            <a:ext cx="969264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868680" y="2980944"/>
            <a:ext cx="621792" cy="621792"/>
          </a:xfrm>
          <a:prstGeom prst="ellipse">
            <a:avLst/>
          </a:prstGeom>
          <a:solidFill>
            <a:srgbClr val="1F5AA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868680" y="3136392"/>
            <a:ext cx="621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19456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A43"/>
                </a:solidFill>
              </a:rPr>
              <a:t>1. Setup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01752" y="3767328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43B53"/>
                </a:solidFill>
              </a:rPr>
              <a:t>Project created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243B53"/>
                </a:solidFill>
              </a:rPr>
              <a:t>Tech selected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063240" y="2980944"/>
            <a:ext cx="621792" cy="621792"/>
          </a:xfrm>
          <a:prstGeom prst="ellipse">
            <a:avLst/>
          </a:prstGeom>
          <a:solidFill>
            <a:srgbClr val="2CB1B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3063240" y="3136392"/>
            <a:ext cx="621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51760" y="219456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A43"/>
                </a:solidFill>
              </a:rPr>
              <a:t>2. UI build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496312" y="3767328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43B53"/>
                </a:solidFill>
              </a:rPr>
              <a:t>Pages and components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243B53"/>
                </a:solidFill>
              </a:rPr>
              <a:t>added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257800" y="2980944"/>
            <a:ext cx="621792" cy="621792"/>
          </a:xfrm>
          <a:prstGeom prst="ellipse">
            <a:avLst/>
          </a:prstGeom>
          <a:solidFill>
            <a:srgbClr val="19947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5257800" y="3136392"/>
            <a:ext cx="621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46320" y="219456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A43"/>
                </a:solidFill>
              </a:rPr>
              <a:t>3. Database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690872" y="3767328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43B53"/>
                </a:solidFill>
              </a:rPr>
              <a:t>Schema and SQL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243B53"/>
                </a:solidFill>
              </a:rPr>
              <a:t>work added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452360" y="2980944"/>
            <a:ext cx="621792" cy="621792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7452360" y="3136392"/>
            <a:ext cx="621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040880" y="219456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A43"/>
                </a:solidFill>
              </a:rPr>
              <a:t>4. Integration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885432" y="3767328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43B53"/>
                </a:solidFill>
              </a:rPr>
              <a:t>Frontend + backend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243B53"/>
                </a:solidFill>
              </a:rPr>
              <a:t>connected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646920" y="2980944"/>
            <a:ext cx="621792" cy="621792"/>
          </a:xfrm>
          <a:prstGeom prst="ellipse">
            <a:avLst/>
          </a:prstGeom>
          <a:solidFill>
            <a:srgbClr val="D6454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9646920" y="3136392"/>
            <a:ext cx="621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235440" y="219456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A43"/>
                </a:solidFill>
              </a:rPr>
              <a:t>5. Testing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079992" y="3767328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43B53"/>
                </a:solidFill>
              </a:rPr>
              <a:t>Fixes and refinements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243B53"/>
                </a:solidFill>
              </a:rPr>
              <a:t>made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5AA6"/>
          </a:solidFill>
          <a:ln w="12700">
            <a:solidFill>
              <a:srgbClr val="1F5A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1 – Front-end development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567160" y="6601968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508760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243B53"/>
                </a:solidFill>
              </a:rPr>
              <a:t>Pages or views created: homepage, all menus</a:t>
            </a:r>
            <a:endParaRPr lang="en-US" sz="1650" dirty="0"/>
          </a:p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243B53"/>
                </a:solidFill>
              </a:rPr>
              <a:t>Components built: menu cards</a:t>
            </a:r>
            <a:endParaRPr lang="en-US" sz="1650" dirty="0"/>
          </a:p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243B53"/>
                </a:solidFill>
              </a:rPr>
              <a:t>Navigation and layout decisions</a:t>
            </a:r>
          </a:p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243B53"/>
                </a:solidFill>
              </a:rPr>
              <a:t>Style decisions: simple light layout description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3463523" y="3730378"/>
            <a:ext cx="2377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15" name="Text 13"/>
          <p:cNvSpPr/>
          <p:nvPr/>
        </p:nvSpPr>
        <p:spPr>
          <a:xfrm>
            <a:off x="3628115" y="3858394"/>
            <a:ext cx="2048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5AA6"/>
                </a:solidFill>
              </a:rPr>
              <a:t>UI STYLE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64691" y="4141858"/>
            <a:ext cx="1975104" cy="1353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i="1" dirty="0"/>
              <a:t>DESSERTS SCREENSHOT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23843" y="3730378"/>
            <a:ext cx="2377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6188435" y="3858394"/>
            <a:ext cx="2048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5AA6"/>
                </a:solidFill>
              </a:rPr>
              <a:t>UI STYLE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25011" y="4141858"/>
            <a:ext cx="1975104" cy="1353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dirty="0"/>
              <a:t>MAINS SCREENSHOT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99473"/>
          </a:solidFill>
          <a:ln w="12700">
            <a:solidFill>
              <a:srgbClr val="19947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2 – Database design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567160" y="6601968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</a:rPr>
              <a:t>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508760"/>
            <a:ext cx="52120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630" dirty="0">
                <a:solidFill>
                  <a:srgbClr val="243B53"/>
                </a:solidFill>
              </a:rPr>
              <a:t>Database tables</a:t>
            </a:r>
          </a:p>
          <a:p>
            <a:pPr marL="203200" indent="-203200">
              <a:buSzPct val="100000"/>
              <a:buChar char="•"/>
            </a:pPr>
            <a:r>
              <a:rPr lang="en-US" sz="1630" dirty="0">
                <a:solidFill>
                  <a:srgbClr val="243B53"/>
                </a:solidFill>
              </a:rPr>
              <a:t>Fields</a:t>
            </a:r>
            <a:endParaRPr lang="en-US" sz="1630" dirty="0"/>
          </a:p>
          <a:p>
            <a:pPr marL="203200" indent="-203200">
              <a:buSzPct val="100000"/>
              <a:buChar char="•"/>
            </a:pPr>
            <a:r>
              <a:rPr lang="en-US" sz="1630" dirty="0">
                <a:solidFill>
                  <a:srgbClr val="243B53"/>
                </a:solidFill>
              </a:rPr>
              <a:t>How products, orders, and receipts relate to each other?</a:t>
            </a:r>
            <a:endParaRPr lang="en-US" sz="1630" dirty="0"/>
          </a:p>
        </p:txBody>
      </p:sp>
      <p:sp>
        <p:nvSpPr>
          <p:cNvPr id="8" name="Shape 6"/>
          <p:cNvSpPr/>
          <p:nvPr/>
        </p:nvSpPr>
        <p:spPr>
          <a:xfrm>
            <a:off x="6355080" y="1463040"/>
            <a:ext cx="48920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9" name="Text 7"/>
          <p:cNvSpPr/>
          <p:nvPr/>
        </p:nvSpPr>
        <p:spPr>
          <a:xfrm>
            <a:off x="6519672" y="1591056"/>
            <a:ext cx="4562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5AA6"/>
                </a:solidFill>
              </a:rPr>
              <a:t>SCHEMA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56248" y="1874520"/>
            <a:ext cx="4489704" cy="1490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dirty="0"/>
              <a:t>SCREENSHOT OF BACKEND SCHEMA</a:t>
            </a:r>
          </a:p>
        </p:txBody>
      </p:sp>
      <p:sp>
        <p:nvSpPr>
          <p:cNvPr id="15" name="Text 13"/>
          <p:cNvSpPr/>
          <p:nvPr/>
        </p:nvSpPr>
        <p:spPr>
          <a:xfrm>
            <a:off x="7773706" y="3922776"/>
            <a:ext cx="2002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810282" y="4206240"/>
            <a:ext cx="1929384" cy="1216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3 – Backend integration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567160" y="6601968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554480"/>
            <a:ext cx="51663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620" dirty="0">
                <a:solidFill>
                  <a:srgbClr val="243B53"/>
                </a:solidFill>
              </a:rPr>
              <a:t>Frontend connected to backend endpoints</a:t>
            </a:r>
            <a:endParaRPr lang="en-US" sz="1620" dirty="0"/>
          </a:p>
          <a:p>
            <a:pPr marL="203200" indent="-203200">
              <a:buSzPct val="100000"/>
              <a:buChar char="•"/>
            </a:pPr>
            <a:r>
              <a:rPr lang="en-US" sz="1620" dirty="0">
                <a:solidFill>
                  <a:srgbClr val="243B53"/>
                </a:solidFill>
              </a:rPr>
              <a:t>Menu data fetched from the database</a:t>
            </a:r>
            <a:endParaRPr lang="en-US" sz="1620" dirty="0"/>
          </a:p>
          <a:p>
            <a:pPr marL="203200" indent="-203200">
              <a:buSzPct val="100000"/>
              <a:buChar char="•"/>
            </a:pPr>
            <a:r>
              <a:rPr lang="en-US" sz="1620" dirty="0">
                <a:solidFill>
                  <a:srgbClr val="243B53"/>
                </a:solidFill>
              </a:rPr>
              <a:t>User actions sent from the UI to the backend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355080" y="1463040"/>
            <a:ext cx="22860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6519672" y="1591056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5AA6"/>
                </a:solidFill>
              </a:rPr>
              <a:t>API FLOW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56248" y="1874520"/>
            <a:ext cx="1883664" cy="1307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915400" y="1463040"/>
            <a:ext cx="22860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9079992" y="1591056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5AA6"/>
                </a:solidFill>
              </a:rPr>
              <a:t>BACKEND FILE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16568" y="1874520"/>
            <a:ext cx="1883664" cy="1307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55080" y="3611880"/>
            <a:ext cx="48463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6519672" y="3739896"/>
            <a:ext cx="4517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5AA6"/>
                </a:solidFill>
              </a:rPr>
              <a:t>INTEGRATION EVIDENCE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56248" y="4023360"/>
            <a:ext cx="4443984" cy="1353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2CB1BC"/>
          </a:solidFill>
          <a:ln w="12700">
            <a:solidFill>
              <a:srgbClr val="2CB1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4 – Cart, checkout, and order storage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567160" y="6601968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</a:rPr>
              <a:t>11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536192"/>
            <a:ext cx="507492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620" dirty="0">
                <a:solidFill>
                  <a:srgbClr val="243B53"/>
                </a:solidFill>
              </a:rPr>
              <a:t>Add-to-cart and quantity logic implemented</a:t>
            </a:r>
            <a:endParaRPr lang="en-US" sz="1620" dirty="0"/>
          </a:p>
          <a:p>
            <a:pPr marL="203200" indent="-203200">
              <a:buSzPct val="100000"/>
              <a:buChar char="•"/>
            </a:pPr>
            <a:r>
              <a:rPr lang="en-US" sz="1620" dirty="0">
                <a:solidFill>
                  <a:srgbClr val="243B53"/>
                </a:solidFill>
              </a:rPr>
              <a:t>Checkout form or confirmation step built</a:t>
            </a:r>
            <a:endParaRPr lang="en-US" sz="1620" dirty="0"/>
          </a:p>
          <a:p>
            <a:pPr marL="203200" indent="-203200">
              <a:buSzPct val="100000"/>
              <a:buChar char="•"/>
            </a:pPr>
            <a:r>
              <a:rPr lang="en-US" sz="1620" dirty="0">
                <a:solidFill>
                  <a:srgbClr val="243B53"/>
                </a:solidFill>
              </a:rPr>
              <a:t>Order data sent to backend and stored in database</a:t>
            </a:r>
            <a:endParaRPr lang="en-US" sz="1620" dirty="0"/>
          </a:p>
          <a:p>
            <a:pPr marL="203200" indent="-203200">
              <a:buSzPct val="100000"/>
              <a:buChar char="•"/>
            </a:pPr>
            <a:r>
              <a:rPr lang="en-US" sz="1620" dirty="0">
                <a:solidFill>
                  <a:srgbClr val="243B53"/>
                </a:solidFill>
              </a:rPr>
              <a:t>Receipt or confirmation feature generated after submission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217920" y="1463040"/>
            <a:ext cx="22402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6382512" y="1591056"/>
            <a:ext cx="1911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5AA6"/>
                </a:solidFill>
              </a:rPr>
              <a:t>CART SCREEN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732520" y="1463040"/>
            <a:ext cx="22402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8897112" y="1591056"/>
            <a:ext cx="1911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5AA6"/>
                </a:solidFill>
              </a:rPr>
              <a:t>CHECKOUT SCREEN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3611880"/>
            <a:ext cx="47548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6382512" y="3739896"/>
            <a:ext cx="4425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5AA6"/>
                </a:solidFill>
              </a:rPr>
              <a:t>ORDER STORAGE PROOF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Testing and debugging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567160" y="6601968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</a:rPr>
              <a:t>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3657600" cy="44805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4572000" y="1463040"/>
            <a:ext cx="2743200" cy="44805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7498080" y="1463040"/>
            <a:ext cx="3749040" cy="448056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960120" y="17373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64545"/>
                </a:solidFill>
              </a:rPr>
              <a:t>What was tested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60120" y="2084832"/>
            <a:ext cx="29718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520" dirty="0">
                <a:solidFill>
                  <a:srgbClr val="243B53"/>
                </a:solidFill>
              </a:rPr>
              <a:t>Menu loading</a:t>
            </a:r>
            <a:endParaRPr lang="en-US" sz="1520" dirty="0"/>
          </a:p>
          <a:p>
            <a:pPr marL="203200" indent="-203200">
              <a:buSzPct val="100000"/>
              <a:buChar char="•"/>
            </a:pPr>
            <a:r>
              <a:rPr lang="en-US" sz="1520" dirty="0">
                <a:solidFill>
                  <a:srgbClr val="243B53"/>
                </a:solidFill>
              </a:rPr>
              <a:t>Cart updates</a:t>
            </a:r>
            <a:endParaRPr lang="en-US" sz="1520" dirty="0"/>
          </a:p>
          <a:p>
            <a:pPr marL="203200" indent="-203200">
              <a:buSzPct val="100000"/>
              <a:buChar char="•"/>
            </a:pPr>
            <a:r>
              <a:rPr lang="en-US" sz="1520" dirty="0">
                <a:solidFill>
                  <a:srgbClr val="243B53"/>
                </a:solidFill>
              </a:rPr>
              <a:t>Checkout submission</a:t>
            </a:r>
            <a:endParaRPr lang="en-US" sz="1520" dirty="0"/>
          </a:p>
          <a:p>
            <a:pPr marL="203200" indent="-203200">
              <a:buSzPct val="100000"/>
              <a:buChar char="•"/>
            </a:pPr>
            <a:r>
              <a:rPr lang="en-US" sz="1520" dirty="0">
                <a:solidFill>
                  <a:srgbClr val="243B53"/>
                </a:solidFill>
              </a:rPr>
              <a:t>Database insertions</a:t>
            </a:r>
            <a:endParaRPr lang="en-US" sz="1520" dirty="0"/>
          </a:p>
          <a:p>
            <a:pPr marL="203200" indent="-203200">
              <a:buSzPct val="100000"/>
              <a:buChar char="•"/>
            </a:pPr>
            <a:r>
              <a:rPr lang="en-US" sz="1520" dirty="0">
                <a:solidFill>
                  <a:srgbClr val="243B53"/>
                </a:solidFill>
              </a:rPr>
              <a:t>Receipt output</a:t>
            </a:r>
            <a:endParaRPr lang="en-US" sz="1520" dirty="0"/>
          </a:p>
        </p:txBody>
      </p:sp>
      <p:sp>
        <p:nvSpPr>
          <p:cNvPr id="12" name="Text 10"/>
          <p:cNvSpPr/>
          <p:nvPr/>
        </p:nvSpPr>
        <p:spPr>
          <a:xfrm>
            <a:off x="4800600" y="17373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64545"/>
                </a:solidFill>
              </a:rPr>
              <a:t>Methods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800600" y="2084832"/>
            <a:ext cx="20116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480" dirty="0">
                <a:solidFill>
                  <a:srgbClr val="243B53"/>
                </a:solidFill>
              </a:rPr>
              <a:t>Manual testing</a:t>
            </a:r>
            <a:endParaRPr lang="en-US" sz="1480" dirty="0"/>
          </a:p>
          <a:p>
            <a:pPr marL="203200" indent="-203200">
              <a:buSzPct val="100000"/>
              <a:buChar char="•"/>
            </a:pPr>
            <a:r>
              <a:rPr lang="en-US" sz="1480" dirty="0">
                <a:solidFill>
                  <a:srgbClr val="243B53"/>
                </a:solidFill>
              </a:rPr>
              <a:t>Step-by-step checks</a:t>
            </a:r>
            <a:endParaRPr lang="en-US" sz="1480" dirty="0"/>
          </a:p>
          <a:p>
            <a:pPr marL="203200" indent="-203200">
              <a:buSzPct val="100000"/>
              <a:buChar char="•"/>
            </a:pPr>
            <a:r>
              <a:rPr lang="en-US" sz="1480" dirty="0">
                <a:solidFill>
                  <a:srgbClr val="243B53"/>
                </a:solidFill>
              </a:rPr>
              <a:t>Repeat bug fixes</a:t>
            </a:r>
            <a:endParaRPr lang="en-US" sz="1480" dirty="0"/>
          </a:p>
        </p:txBody>
      </p:sp>
      <p:sp>
        <p:nvSpPr>
          <p:cNvPr id="14" name="Text 12"/>
          <p:cNvSpPr/>
          <p:nvPr/>
        </p:nvSpPr>
        <p:spPr>
          <a:xfrm>
            <a:off x="7726680" y="17373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64545"/>
                </a:solidFill>
              </a:rPr>
              <a:t>Evidence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5AA6"/>
          </a:solidFill>
          <a:ln w="12700">
            <a:solidFill>
              <a:srgbClr val="1F5A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Challenges and solutions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567160" y="6601968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</a:rPr>
              <a:t>13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1417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5AA6"/>
                </a:solidFill>
              </a:rPr>
              <a:t>Challenge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343400" y="141732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5AA6"/>
                </a:solidFill>
              </a:rPr>
              <a:t>How it was solved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412480" y="1417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5AA6"/>
                </a:solidFill>
              </a:rPr>
              <a:t>Evidence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77240" y="1828800"/>
            <a:ext cx="2971800" cy="749808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4160520" y="1828800"/>
            <a:ext cx="3429000" cy="749808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8001000" y="1828800"/>
            <a:ext cx="3429000" cy="749808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777240" y="2907792"/>
            <a:ext cx="2971800" cy="749808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4160520" y="2907792"/>
            <a:ext cx="3429000" cy="749808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8001000" y="2907792"/>
            <a:ext cx="3429000" cy="749808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777240" y="3986784"/>
            <a:ext cx="2971800" cy="749808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4160520" y="3986784"/>
            <a:ext cx="3429000" cy="749808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8001000" y="3986784"/>
            <a:ext cx="3429000" cy="749808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777240" y="5065776"/>
            <a:ext cx="2971800" cy="749808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4160520" y="5065776"/>
            <a:ext cx="3429000" cy="749808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8001000" y="5065776"/>
            <a:ext cx="3429000" cy="749808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960120" y="2066544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43B53"/>
                </a:solidFill>
              </a:rPr>
              <a:t>[Add challenge 1]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0120" y="3145536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43B53"/>
                </a:solidFill>
              </a:rPr>
              <a:t>[Add challenge 2]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60120" y="4224528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43B53"/>
                </a:solidFill>
              </a:rPr>
              <a:t>[Add challenge 3]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60120" y="5303520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43B53"/>
                </a:solidFill>
              </a:rPr>
              <a:t>[Add challenge 4]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389120" y="2066544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43B53"/>
                </a:solidFill>
              </a:rPr>
              <a:t>[Explain fix]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389120" y="3145536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43B53"/>
                </a:solidFill>
              </a:rPr>
              <a:t>[Explain fix]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389120" y="4224528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43B53"/>
                </a:solidFill>
              </a:rPr>
              <a:t>[Explain fix]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389120" y="5303520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43B53"/>
                </a:solidFill>
              </a:rPr>
              <a:t>[Explain fix]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247888" y="2066544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7B8794"/>
                </a:solidFill>
              </a:rPr>
              <a:t>Add commit / screenshot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8247888" y="3145536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7B8794"/>
                </a:solidFill>
              </a:rPr>
              <a:t>Add commit / screenshot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8247888" y="4224528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7B8794"/>
                </a:solidFill>
              </a:rPr>
              <a:t>Add commit / screenshot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247888" y="5303520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7B8794"/>
                </a:solidFill>
              </a:rPr>
              <a:t>Add commit / screenshot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99473"/>
          </a:solidFill>
          <a:ln w="12700">
            <a:solidFill>
              <a:srgbClr val="19947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outcome and what the repository proves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567160" y="6601968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</a:rPr>
              <a:t>14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554480"/>
            <a:ext cx="53035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buSzPct val="100000"/>
            </a:pPr>
            <a:endParaRPr lang="en-US" sz="1610" dirty="0"/>
          </a:p>
          <a:p>
            <a:pPr marL="203200" indent="-203200">
              <a:buSzPct val="100000"/>
              <a:buChar char="•"/>
            </a:pPr>
            <a:r>
              <a:rPr lang="en-US" sz="1610" dirty="0">
                <a:solidFill>
                  <a:srgbClr val="243B53"/>
                </a:solidFill>
              </a:rPr>
              <a:t>The repository proves chronological development from setup to working solution.</a:t>
            </a:r>
            <a:endParaRPr lang="en-US" sz="1610" dirty="0"/>
          </a:p>
          <a:p>
            <a:pPr>
              <a:buSzPct val="100000"/>
            </a:pPr>
            <a:endParaRPr lang="en-US" sz="1610" dirty="0"/>
          </a:p>
          <a:p>
            <a:pPr marL="203200" indent="-203200">
              <a:buSzPct val="100000"/>
              <a:buChar char="•"/>
            </a:pPr>
            <a:r>
              <a:rPr lang="en-US" sz="1610" dirty="0">
                <a:solidFill>
                  <a:srgbClr val="243B53"/>
                </a:solidFill>
              </a:rPr>
              <a:t>This directly satisfies the requirement to explain the complete development process using GitHub as the primary reference.</a:t>
            </a:r>
            <a:endParaRPr lang="en-US" sz="1610" dirty="0"/>
          </a:p>
        </p:txBody>
      </p:sp>
      <p:sp>
        <p:nvSpPr>
          <p:cNvPr id="8" name="Shape 6"/>
          <p:cNvSpPr/>
          <p:nvPr/>
        </p:nvSpPr>
        <p:spPr>
          <a:xfrm>
            <a:off x="6355080" y="1463040"/>
            <a:ext cx="22402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6519672" y="1591056"/>
            <a:ext cx="1911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5AA6"/>
                </a:solidFill>
              </a:rPr>
              <a:t>FINAL SCREENSHOT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56248" y="1874520"/>
            <a:ext cx="1837944" cy="1261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869680" y="1463040"/>
            <a:ext cx="22402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9034272" y="1591056"/>
            <a:ext cx="1911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5AA6"/>
                </a:solidFill>
              </a:rPr>
              <a:t>FINAL SCREENSHOT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070848" y="1874520"/>
            <a:ext cx="1837944" cy="1261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55080" y="3657600"/>
            <a:ext cx="47548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6519672" y="3785616"/>
            <a:ext cx="4425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5AA6"/>
                </a:solidFill>
              </a:rPr>
              <a:t>“BEST EVIDENCE” COLLAGE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56248" y="4069080"/>
            <a:ext cx="4352544" cy="1261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5" y="109728"/>
            <a:ext cx="12191695" cy="68580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7">
            <a:extLst>
              <a:ext uri="{FF2B5EF4-FFF2-40B4-BE49-F238E27FC236}">
                <a16:creationId xmlns:a16="http://schemas.microsoft.com/office/drawing/2014/main" id="{5A70660A-9EC0-DA0D-B36F-6D4755989BFA}"/>
              </a:ext>
            </a:extLst>
          </p:cNvPr>
          <p:cNvSpPr/>
          <p:nvPr/>
        </p:nvSpPr>
        <p:spPr>
          <a:xfrm>
            <a:off x="731520" y="1874520"/>
            <a:ext cx="5044502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2CB1BC"/>
          </a:solidFill>
          <a:ln w="12700">
            <a:solidFill>
              <a:srgbClr val="2CB1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Conclusion and Q&amp;A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87552" y="21488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Suggested closing points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96112" y="2002536"/>
            <a:ext cx="493776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243B53"/>
                </a:solidFill>
              </a:rPr>
              <a:t>Campus Cuisine was developed in clear stages from setup to final refinement.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243B53"/>
                </a:solidFill>
              </a:rPr>
              <a:t>GitHub provided evidence of implementation, testing, fixes, and progress over time.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243B53"/>
                </a:solidFill>
              </a:rPr>
              <a:t>The project achieved its core aim of building a working campus food-ordering application.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12280" y="1874520"/>
            <a:ext cx="452628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6976872" y="2002536"/>
            <a:ext cx="4197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5AA6"/>
                </a:solidFill>
              </a:rPr>
              <a:t>FINAL VISUAL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013448" y="2286000"/>
            <a:ext cx="4123944" cy="2359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558</Words>
  <Application>Microsoft Office PowerPoint</Application>
  <PresentationFormat>Widescreen</PresentationFormat>
  <Paragraphs>167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Campus Cuisine – Development Process</dc:title>
  <dc:subject>Campus Cuisine Development Process Presentation</dc:subject>
  <dc:creator>OpenAI</dc:creator>
  <cp:lastModifiedBy>Wingell, Adam (Student)</cp:lastModifiedBy>
  <cp:revision>3</cp:revision>
  <dcterms:created xsi:type="dcterms:W3CDTF">2026-04-18T08:39:14Z</dcterms:created>
  <dcterms:modified xsi:type="dcterms:W3CDTF">2026-04-18T10:57:14Z</dcterms:modified>
</cp:coreProperties>
</file>